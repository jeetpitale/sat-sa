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nciipc.gov.in" TargetMode="External"/><Relationship Id="rId5" Type="http://schemas.openxmlformats.org/officeDocument/2006/relationships/hyperlink" Target="https://www.cert-in.org.in" TargetMode="External"/><Relationship Id="rId6" Type="http://schemas.openxmlformats.org/officeDocument/2006/relationships/hyperlink" Target="https://www.sih.gov.in" TargetMode="External"/><Relationship Id="rId7" Type="http://schemas.openxmlformats.org/officeDocument/2006/relationships/hyperlink" Target="https://attack.mitre.org" TargetMode="External"/><Relationship Id="rId8" Type="http://schemas.openxmlformats.org/officeDocument/2006/relationships/hyperlink" Target="https://doi.org/10.1109/ICDM.2008.17" TargetMode="External"/><Relationship Id="rId9" Type="http://schemas.openxmlformats.org/officeDocument/2006/relationships/hyperlink" Target="https://doi.org/10.1109/SFCS.1997.646128" TargetMode="External"/><Relationship Id="rId10" Type="http://schemas.openxmlformats.org/officeDocument/2006/relationships/hyperlink" Target="https://doi.org/10.1080/01621459.1973.1048243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0"/>
            <a:ext cx="2249424" cy="1060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64592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0C0"/>
                </a:solidFill>
                <a:latin typeface="Times New Roman"/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E3C"/>
                </a:solidFill>
                <a:latin typeface="Times New Roman"/>
              </a:defRPr>
            </a:pPr>
            <a:r>
              <a:t>TITLE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E3C"/>
                </a:solidFill>
                <a:latin typeface="Arial"/>
              </a:defRPr>
            </a:pPr>
            <a:r>
              <a:t>SAT-SA: Security Audit &amp; Supervisory Analytics</a:t>
            </a:r>
          </a:p>
          <a:p>
            <a:pPr>
              <a:defRPr sz="1350" b="1">
                <a:solidFill>
                  <a:srgbClr val="0070C0"/>
                </a:solidFill>
                <a:latin typeface="Arial"/>
              </a:defRPr>
            </a:pPr>
            <a:r>
              <a:t>Turning SOC Records into Actionable Audit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11274552" cy="2103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1">
                <a:solidFill>
                  <a:srgbClr val="0F1E3C"/>
                </a:solidFill>
                <a:latin typeface="Arial"/>
              </a:rPr>
              <a:t>Problem Statement ID –</a:t>
            </a:r>
            <a:r>
              <a:rPr sz="1050">
                <a:solidFill>
                  <a:srgbClr val="334155"/>
                </a:solidFill>
                <a:latin typeface="Arial"/>
              </a:rPr>
              <a:t>  26157 (SIH26157)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0F1E3C"/>
                </a:solidFill>
                <a:latin typeface="Arial"/>
              </a:rPr>
              <a:t>Problem Statement Title –</a:t>
            </a:r>
            <a:r>
              <a:rPr sz="1050">
                <a:solidFill>
                  <a:srgbClr val="334155"/>
                </a:solidFill>
                <a:latin typeface="Arial"/>
              </a:rPr>
              <a:t>  Supervisory Analytics Tool for SOC Assessment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0F1E3C"/>
                </a:solidFill>
                <a:latin typeface="Arial"/>
              </a:rPr>
              <a:t>Theme –</a:t>
            </a:r>
            <a:r>
              <a:rPr sz="1050">
                <a:solidFill>
                  <a:srgbClr val="334155"/>
                </a:solidFill>
                <a:latin typeface="Arial"/>
              </a:rPr>
              <a:t>  Blockchain &amp; Cybersecurity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33172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1">
                <a:solidFill>
                  <a:srgbClr val="0F1E3C"/>
                </a:solidFill>
                <a:latin typeface="Arial"/>
              </a:rPr>
              <a:t>PS Category –</a:t>
            </a:r>
            <a:r>
              <a:rPr sz="1050">
                <a:solidFill>
                  <a:srgbClr val="334155"/>
                </a:solidFill>
                <a:latin typeface="Arial"/>
              </a:rPr>
              <a:t>  Software (Offline / Air-Gapped)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0F1E3C"/>
                </a:solidFill>
                <a:latin typeface="Arial"/>
              </a:rPr>
              <a:t>Team ID –</a:t>
            </a:r>
            <a:r>
              <a:rPr sz="1050">
                <a:solidFill>
                  <a:srgbClr val="334155"/>
                </a:solidFill>
                <a:latin typeface="Arial"/>
              </a:rPr>
              <a:t>  SIH26157_TEAM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0F1E3C"/>
                </a:solidFill>
                <a:latin typeface="Arial"/>
              </a:rPr>
              <a:t>Team Name –</a:t>
            </a:r>
            <a:r>
              <a:rPr sz="1050">
                <a:solidFill>
                  <a:srgbClr val="334155"/>
                </a:solidFill>
                <a:latin typeface="Arial"/>
              </a:rPr>
              <a:t>  SAT-SA Analytics (Registered on portal)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389120"/>
            <a:ext cx="1127455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46227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70C0"/>
                </a:solidFill>
                <a:latin typeface="Arial"/>
              </a:defRPr>
            </a:pPr>
            <a:r>
              <a:t>SOLUTION SCOPE &amp; HUMAN-IN-THE-LOOP AUDIT OBJECTIVE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An offline supervisory analytics tool that evaluates SOC records, detects behavioural anomalies, execution gaps, and missing evidence, and prioritises high-risk entities to assist human auditors.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440680"/>
            <a:ext cx="11274552" cy="73152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5513832"/>
            <a:ext cx="11000232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50" b="1">
                <a:solidFill>
                  <a:srgbClr val="0F1E3C"/>
                </a:solidFill>
                <a:latin typeface="Arial"/>
              </a:defRPr>
            </a:pPr>
            <a:r>
              <a:t>Offline-First Supervisory Analytics &amp; Review Prioritisation for Critical Sector Security Operations Centers</a:t>
            </a:r>
            <a:br/>
            <a:r>
              <a:t>Human-in-the-loop decision support enabling defensible, evidence-backed supervisory investigations.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SIH 2026 | Problem Statement 26157 | SAT-SA: Security Audit &amp; Supervisory Analytics | 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0"/>
            <a:ext cx="2249424" cy="1060704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64592"/>
            <a:ext cx="2011680" cy="29260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SIH 2026 | PS 26157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E3C"/>
                </a:solidFill>
                <a:latin typeface="Times New Roman"/>
              </a:defRPr>
            </a:pPr>
            <a:r>
              <a:t>IDEA TITLE</a:t>
            </a:r>
          </a:p>
          <a:p>
            <a:pPr>
              <a:defRPr sz="1050" b="1">
                <a:solidFill>
                  <a:srgbClr val="0070C0"/>
                </a:solidFill>
                <a:latin typeface="Arial"/>
              </a:defRPr>
            </a:pPr>
            <a:r>
              <a:t>SAT-SA: Security Audit &amp; Supervisory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47548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SAT-SA: Security Audit &amp; Supervisory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45152" y="6419088"/>
            <a:ext cx="4114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@SIH Idea submission- Template | NCIIPC / NTRO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19088"/>
            <a:ext cx="121615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Slide 2 of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34440"/>
            <a:ext cx="347472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258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C2626"/>
                </a:solidFill>
                <a:latin typeface="Arial"/>
              </a:defRPr>
            </a:pPr>
            <a:r>
              <a:t>1. THE PROBLEM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691640"/>
            <a:ext cx="3200400" cy="7772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73736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C2626"/>
                </a:solidFill>
                <a:latin typeface="Arial"/>
              </a:defRPr>
            </a:pPr>
            <a:r>
              <a:t>High Data Volume</a:t>
            </a:r>
          </a:p>
          <a:p>
            <a:pPr>
              <a:defRPr sz="850">
                <a:solidFill>
                  <a:srgbClr val="334155"/>
                </a:solidFill>
                <a:latin typeface="Arial"/>
              </a:defRPr>
            </a:pPr>
            <a:r>
              <a:t>SOCs generate millions of alerts, cases, closures, and asset records.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606040"/>
            <a:ext cx="3200400" cy="7772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65176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C2626"/>
                </a:solidFill>
                <a:latin typeface="Arial"/>
              </a:defRPr>
            </a:pPr>
            <a:r>
              <a:t>Limited Expert Review Capacity</a:t>
            </a:r>
          </a:p>
          <a:p>
            <a:pPr>
              <a:defRPr sz="850">
                <a:solidFill>
                  <a:srgbClr val="334155"/>
                </a:solidFill>
                <a:latin typeface="Arial"/>
              </a:defRPr>
            </a:pPr>
            <a:r>
              <a:t>Large SOC datasets make exhaustive manual review difficult.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520440"/>
            <a:ext cx="3200400" cy="7772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56616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C2626"/>
                </a:solidFill>
                <a:latin typeface="Arial"/>
              </a:defRPr>
            </a:pPr>
            <a:r>
              <a:t>Missing Evidence</a:t>
            </a:r>
          </a:p>
          <a:p>
            <a:pPr>
              <a:defRPr sz="850">
                <a:solidFill>
                  <a:srgbClr val="334155"/>
                </a:solidFill>
                <a:latin typeface="Arial"/>
              </a:defRPr>
            </a:pPr>
            <a:r>
              <a:t>Silent critical assets &amp; dropped logs produce zero events to sample.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1234440"/>
            <a:ext cx="3959352" cy="4069080"/>
          </a:xfrm>
          <a:prstGeom prst="roundRect">
            <a:avLst/>
          </a:prstGeom>
          <a:solidFill>
            <a:srgbClr val="0A192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1325880"/>
            <a:ext cx="3685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0C0"/>
                </a:solidFill>
                <a:latin typeface="Arial"/>
              </a:defRPr>
            </a:pPr>
            <a:r>
              <a:t>2. OUR PROPOSED SOLUTION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1691640"/>
            <a:ext cx="3685032" cy="502920"/>
          </a:xfrm>
          <a:prstGeom prst="roundRect">
            <a:avLst/>
          </a:prstGeom>
          <a:solidFill>
            <a:srgbClr val="182B4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1728216"/>
            <a:ext cx="350215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Arial"/>
              </a:defRPr>
            </a:pPr>
            <a:r>
              <a:t>SOC Records</a:t>
            </a:r>
          </a:p>
          <a:p>
            <a:pPr>
              <a:defRPr sz="800">
                <a:solidFill>
                  <a:srgbClr val="E2E8F0"/>
                </a:solidFill>
                <a:latin typeface="Arial"/>
              </a:defRPr>
            </a:pPr>
            <a:r>
              <a:t>Historical Alerts, Cases, Assets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989320" y="2212848"/>
            <a:ext cx="137160" cy="109728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51960" y="2514600"/>
            <a:ext cx="3685032" cy="640080"/>
          </a:xfrm>
          <a:prstGeom prst="round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2551176"/>
            <a:ext cx="35021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Arial"/>
              </a:defRPr>
            </a:pPr>
            <a:r>
              <a:t>SAT-SA Analytics Engine</a:t>
            </a:r>
          </a:p>
          <a:p>
            <a:pPr>
              <a:defRPr sz="800">
                <a:solidFill>
                  <a:srgbClr val="E2E8F0"/>
                </a:solidFill>
                <a:latin typeface="Arial"/>
              </a:defRPr>
            </a:pPr>
            <a:r>
              <a:t>• Rule Analysis  • Statistics (EB)</a:t>
            </a:r>
            <a:br/>
            <a:r>
              <a:t>• Peer Cohorts  • Anomaly ML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5989320" y="3172968"/>
            <a:ext cx="137160" cy="109728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251960" y="3337560"/>
            <a:ext cx="3685032" cy="502920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3374136"/>
            <a:ext cx="350215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E3C"/>
                </a:solidFill>
                <a:latin typeface="Arial"/>
              </a:defRPr>
            </a:pPr>
            <a:r>
              <a:t>Review Priorities</a:t>
            </a:r>
          </a:p>
          <a:p>
            <a:pPr>
              <a:defRPr sz="800">
                <a:solidFill>
                  <a:srgbClr val="1E293B"/>
                </a:solidFill>
                <a:latin typeface="Arial"/>
              </a:defRPr>
            </a:pPr>
            <a:r>
              <a:t>Prioritised Entities &amp; Findings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5989320" y="3858768"/>
            <a:ext cx="137160" cy="109728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251960" y="4160520"/>
            <a:ext cx="3685032" cy="502920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4197096"/>
            <a:ext cx="350215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Arial"/>
              </a:defRPr>
            </a:pPr>
            <a:r>
              <a:t>Human Expert Auditor</a:t>
            </a:r>
          </a:p>
          <a:p>
            <a:pPr>
              <a:defRPr sz="800">
                <a:solidFill>
                  <a:srgbClr val="E2E8F0"/>
                </a:solidFill>
                <a:latin typeface="Arial"/>
              </a:defRPr>
            </a:pPr>
            <a:r>
              <a:t>Targeted Forensic Investigation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57031" y="1234440"/>
            <a:ext cx="347472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94192" y="13258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0C0"/>
                </a:solidFill>
                <a:latin typeface="Arial"/>
              </a:defRPr>
            </a:pPr>
            <a:r>
              <a:t>3. INNOVATION &amp; UNIQUENESS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94192" y="1691640"/>
            <a:ext cx="3200400" cy="7772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85632" y="173736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C2626"/>
                </a:solidFill>
                <a:latin typeface="Arial"/>
              </a:defRPr>
            </a:pPr>
            <a:r>
              <a:t>01 — EXECUTION GAPS</a:t>
            </a:r>
          </a:p>
          <a:p>
            <a:pPr>
              <a:defRPr sz="850">
                <a:solidFill>
                  <a:srgbClr val="334155"/>
                </a:solidFill>
                <a:latin typeface="Arial"/>
              </a:defRPr>
            </a:pPr>
            <a:r>
              <a:t>Evidence exists, but behaviour appears unusual (e.g. 4s fast closures, template notes).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94192" y="2606040"/>
            <a:ext cx="3200400" cy="7772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85632" y="265176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70C0"/>
                </a:solidFill>
                <a:latin typeface="Arial"/>
              </a:defRPr>
            </a:pPr>
            <a:r>
              <a:t>02 — NEGATIVE SPACE</a:t>
            </a:r>
          </a:p>
          <a:p>
            <a:pPr>
              <a:defRPr sz="850">
                <a:solidFill>
                  <a:srgbClr val="334155"/>
                </a:solidFill>
                <a:latin typeface="Arial"/>
              </a:defRPr>
            </a:pPr>
            <a:r>
              <a:t>Expected evidence is missing or unexpectedly sparse (e.g. silent SCADA assets, blackout shifts).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94192" y="3520440"/>
            <a:ext cx="3200400" cy="7772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85632" y="356616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59669"/>
                </a:solidFill>
                <a:latin typeface="Arial"/>
              </a:defRPr>
            </a:pPr>
            <a:r>
              <a:t>03 — EVIDENCE TRAIL</a:t>
            </a:r>
          </a:p>
          <a:p>
            <a:pPr>
              <a:defRPr sz="850">
                <a:solidFill>
                  <a:srgbClr val="334155"/>
                </a:solidFill>
                <a:latin typeface="Arial"/>
              </a:defRPr>
            </a:pPr>
            <a:r>
              <a:t>Every recommendation links to an unbroken chain of verifiable raw records.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394960"/>
            <a:ext cx="11274552" cy="7772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1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5468112"/>
            <a:ext cx="11000232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F1E3C"/>
                </a:solidFill>
                <a:latin typeface="Arial"/>
              </a:defRPr>
            </a:pPr>
            <a:r>
              <a:t>"SAT-SA analyses not only what exists — but also what should exist."</a:t>
            </a:r>
            <a:br/>
            <a:r>
              <a:t>Identifies where expert review should focus without replacing the human investigator.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0"/>
            <a:ext cx="2249424" cy="1060704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64592"/>
            <a:ext cx="2011680" cy="29260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SIH 2026 | PS 26157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E3C"/>
                </a:solidFill>
                <a:latin typeface="Times New Roman"/>
              </a:defRPr>
            </a:pPr>
            <a:r>
              <a:t>TECHNICAL APPROACH</a:t>
            </a:r>
          </a:p>
          <a:p>
            <a:pPr>
              <a:defRPr sz="1050" b="1">
                <a:solidFill>
                  <a:srgbClr val="0070C0"/>
                </a:solidFill>
                <a:latin typeface="Arial"/>
              </a:defRPr>
            </a:pPr>
            <a:r>
              <a:t>Methodology, Workflow &amp; Detection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47548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SAT-SA: Security Audit &amp; Supervisory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45152" y="6419088"/>
            <a:ext cx="4114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@SIH Idea submission- Template | NCIIPC / NTRO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19088"/>
            <a:ext cx="121615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Slide 3 of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34440"/>
            <a:ext cx="11274552" cy="640080"/>
          </a:xfrm>
          <a:prstGeom prst="roundRect">
            <a:avLst/>
          </a:prstGeom>
          <a:solidFill>
            <a:srgbClr val="0A192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61872"/>
            <a:ext cx="1100023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0C0"/>
                </a:solidFill>
                <a:latin typeface="Arial"/>
              </a:defRPr>
            </a:pPr>
            <a:r>
              <a:t>COMPLETE SYSTEM WORKFLOW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481328"/>
            <a:ext cx="1481328" cy="320040"/>
          </a:xfrm>
          <a:prstGeom prst="roundRect">
            <a:avLst/>
          </a:prstGeom>
          <a:solidFill>
            <a:srgbClr val="182B4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508760"/>
            <a:ext cx="14813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DATA INPUT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76272" y="1481328"/>
            <a:ext cx="1481328" cy="320040"/>
          </a:xfrm>
          <a:prstGeom prst="roundRect">
            <a:avLst/>
          </a:prstGeom>
          <a:solidFill>
            <a:srgbClr val="182B4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76272" y="1508760"/>
            <a:ext cx="14813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NORMALISATION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58184" y="1481328"/>
            <a:ext cx="1481328" cy="320040"/>
          </a:xfrm>
          <a:prstGeom prst="roundRect">
            <a:avLst/>
          </a:prstGeom>
          <a:solidFill>
            <a:srgbClr val="182B4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58184" y="1508760"/>
            <a:ext cx="14813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FEATURE EXTRACTION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40096" y="1481328"/>
            <a:ext cx="1481328" cy="320040"/>
          </a:xfrm>
          <a:prstGeom prst="roundRect">
            <a:avLst/>
          </a:prstGeom>
          <a:solidFill>
            <a:srgbClr val="182B4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0096" y="1508760"/>
            <a:ext cx="14813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DETECTION ENGINE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22008" y="1481328"/>
            <a:ext cx="1481328" cy="320040"/>
          </a:xfrm>
          <a:prstGeom prst="roundRect">
            <a:avLst/>
          </a:prstGeom>
          <a:solidFill>
            <a:srgbClr val="182B4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22008" y="1508760"/>
            <a:ext cx="14813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PRIORITISATION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0" y="1481328"/>
            <a:ext cx="1481328" cy="320040"/>
          </a:xfrm>
          <a:prstGeom prst="roundRect">
            <a:avLst/>
          </a:prstGeom>
          <a:solidFill>
            <a:srgbClr val="182B4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1508760"/>
            <a:ext cx="14813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EVIDENCE TRAIL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85832" y="1481328"/>
            <a:ext cx="1481328" cy="320040"/>
          </a:xfrm>
          <a:prstGeom prst="roundRect">
            <a:avLst/>
          </a:prstGeom>
          <a:solidFill>
            <a:srgbClr val="182B49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85832" y="1508760"/>
            <a:ext cx="14813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HUMAN REVIEW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1965960"/>
            <a:ext cx="54864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2029968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F1E3C"/>
                </a:solidFill>
                <a:latin typeface="Arial"/>
              </a:defRPr>
            </a:pPr>
            <a:r>
              <a:t>DATA INPUT &amp; DETECTION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2286000"/>
            <a:ext cx="52120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Ingestion Sources:</a:t>
            </a:r>
            <a:r>
              <a:rPr sz="850">
                <a:solidFill>
                  <a:srgbClr val="1E293B"/>
                </a:solidFill>
                <a:latin typeface="Arial"/>
              </a:rPr>
              <a:t>  CSV | JSON | DB Exports (Alerts, Cases, Closures, Assets, Telemetry)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4 Parallel Analytics Branches:</a:t>
            </a:r>
            <a:r>
              <a:rPr sz="850">
                <a:solidFill>
                  <a:srgbClr val="1E293B"/>
                </a:solidFill>
                <a:latin typeface="Arial"/>
              </a:rPr>
              <a:t>  Rules • Statistical Analysis (EB) • Peer Benchmarks • Anomaly ML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• Dual-Paradigm Output:</a:t>
            </a:r>
            <a:r>
              <a:rPr sz="850">
                <a:solidFill>
                  <a:srgbClr val="1E293B"/>
                </a:solidFill>
                <a:latin typeface="Arial"/>
              </a:rPr>
              <a:t>  Splits into Execution Gaps (Faulty actions) + Negative Space (Omissions)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1965960"/>
            <a:ext cx="5605272" cy="2468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63640" y="2057400"/>
            <a:ext cx="5330952" cy="105156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2084831"/>
            <a:ext cx="514807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C2626"/>
                </a:solidFill>
                <a:latin typeface="Arial"/>
              </a:defRPr>
            </a:pPr>
            <a:r>
              <a:t>EXECUTION GAP VISUAL (Alert A-19283)</a:t>
            </a:r>
          </a:p>
          <a:p>
            <a:pPr>
              <a:defRPr sz="900" b="1">
                <a:solidFill>
                  <a:srgbClr val="0F1E3C"/>
                </a:solidFill>
                <a:latin typeface="Arial"/>
              </a:defRPr>
            </a:pPr>
            <a:r>
              <a:t>Opened: 10:02:15  ➔  Closed: 10:02:19  |  Duration: 4 seconds</a:t>
            </a:r>
          </a:p>
          <a:p>
            <a:pPr>
              <a:defRPr sz="850" b="1">
                <a:solidFill>
                  <a:srgbClr val="DC2626"/>
                </a:solidFill>
                <a:latin typeface="Arial"/>
              </a:defRPr>
            </a:pPr>
            <a:r>
              <a:t>Significant Peer Deviation  ➔  [ Review Recommended 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3246120"/>
            <a:ext cx="5330952" cy="10515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3273552"/>
            <a:ext cx="514807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70C0"/>
                </a:solidFill>
                <a:latin typeface="Arial"/>
              </a:defRPr>
            </a:pPr>
            <a:r>
              <a:t>NEGATIVE SPACE VISUAL (Critical SCADA Gateways)</a:t>
            </a:r>
          </a:p>
          <a:p>
            <a:pPr>
              <a:defRPr sz="800">
                <a:solidFill>
                  <a:srgbClr val="334155"/>
                </a:solidFill>
                <a:latin typeface="Arial"/>
              </a:defRPr>
            </a:pPr>
            <a:r>
              <a:t>Expected: ████████████████████ (Baseline Activity)</a:t>
            </a:r>
          </a:p>
          <a:p>
            <a:pPr>
              <a:defRPr sz="850" b="1">
                <a:solidFill>
                  <a:srgbClr val="D97706"/>
                </a:solidFill>
                <a:latin typeface="Arial"/>
              </a:defRPr>
            </a:pPr>
            <a:r>
              <a:t>Observed: ██████ (Low Telemetry)  ➔  [ Potential Coverage Gap ]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526280"/>
            <a:ext cx="11274552" cy="777240"/>
          </a:xfrm>
          <a:prstGeom prst="roundRect">
            <a:avLst/>
          </a:prstGeom>
          <a:solidFill>
            <a:srgbClr val="0A192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572000"/>
            <a:ext cx="11000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70C0"/>
                </a:solidFill>
                <a:latin typeface="Arial"/>
              </a:defRPr>
            </a:pPr>
            <a:r>
              <a:t>TECHNOLOGY STACK &amp; OFFLINE-FIRST ARCHITECTURE</a:t>
            </a:r>
          </a:p>
          <a:p>
            <a:pPr>
              <a:defRPr sz="850" b="1">
                <a:solidFill>
                  <a:srgbClr val="FFFFFF"/>
                </a:solidFill>
                <a:latin typeface="Arial"/>
              </a:defRPr>
            </a:pPr>
            <a:r>
              <a:t>Python 3  •  Pandas  •  DuckDB + Parquet  •  scikit-learn  •  Streamlit / Plotly  •  Pydantic</a:t>
            </a:r>
          </a:p>
          <a:p>
            <a:pPr>
              <a:defRPr sz="800">
                <a:solidFill>
                  <a:srgbClr val="D97706"/>
                </a:solidFill>
                <a:latin typeface="Arial"/>
              </a:defRPr>
            </a:pPr>
            <a:r>
              <a:t>OFFLINE-FIRST: Air-Gapped • No External Cloud APIs • Tamper-Evident SHA-256 Ledger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394960"/>
            <a:ext cx="11274552" cy="77724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5468112"/>
            <a:ext cx="11000232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50" b="1">
                <a:solidFill>
                  <a:srgbClr val="0F1E3C"/>
                </a:solidFill>
                <a:latin typeface="Arial"/>
              </a:defRPr>
            </a:pPr>
            <a:r>
              <a:t>Designed for high-volume local analytical processing with zero external cloud API dependencies.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0"/>
            <a:ext cx="2249424" cy="1060704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64592"/>
            <a:ext cx="2011680" cy="29260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SIH 2026 | PS 26157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E3C"/>
                </a:solidFill>
                <a:latin typeface="Times New Roman"/>
              </a:defRPr>
            </a:pPr>
            <a:r>
              <a:t>FEASIBILITY AND VIABILITY</a:t>
            </a:r>
          </a:p>
          <a:p>
            <a:pPr>
              <a:defRPr sz="1050" b="1">
                <a:solidFill>
                  <a:srgbClr val="0070C0"/>
                </a:solidFill>
                <a:latin typeface="Arial"/>
              </a:defRPr>
            </a:pPr>
            <a:r>
              <a:t>Feasibility Analysis &amp; Risk-Mitigation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47548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SAT-SA: Security Audit &amp; Supervisory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45152" y="6419088"/>
            <a:ext cx="4114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@SIH Idea submission- Template | NCIIPC / NTRO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19088"/>
            <a:ext cx="121615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Slide 4 of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34440"/>
            <a:ext cx="457200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2588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E3C"/>
                </a:solidFill>
                <a:latin typeface="Arial"/>
              </a:defRPr>
            </a:pPr>
            <a:r>
              <a:t>FEASIBILITY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91640"/>
            <a:ext cx="4206240" cy="7498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37360"/>
            <a:ext cx="4023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E3C"/>
                </a:solidFill>
                <a:latin typeface="Arial"/>
              </a:defRPr>
            </a:pPr>
            <a:r>
              <a:t>OFFLINE DEPLOYMENT</a:t>
            </a:r>
          </a:p>
          <a:p>
            <a:pPr>
              <a:defRPr sz="800">
                <a:solidFill>
                  <a:srgbClr val="334155"/>
                </a:solidFill>
                <a:latin typeface="Arial"/>
              </a:defRPr>
            </a:pPr>
            <a:r>
              <a:t>Works completely without cloud access, external APIs, or outbound network calls in air-gapped environments.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560320"/>
            <a:ext cx="4206240" cy="7498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06039"/>
            <a:ext cx="4023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E3C"/>
                </a:solidFill>
                <a:latin typeface="Arial"/>
              </a:defRPr>
            </a:pPr>
            <a:r>
              <a:t>SCALABLE ANALYTICS</a:t>
            </a:r>
          </a:p>
          <a:p>
            <a:pPr>
              <a:defRPr sz="800">
                <a:solidFill>
                  <a:srgbClr val="334155"/>
                </a:solidFill>
                <a:latin typeface="Arial"/>
              </a:defRPr>
            </a:pPr>
            <a:r>
              <a:t>Columnar storage (DuckDB/Parquet) and vectorized processing easily handle large operational datasets locally.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29000"/>
            <a:ext cx="4206240" cy="7498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74720"/>
            <a:ext cx="4023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E3C"/>
                </a:solidFill>
                <a:latin typeface="Arial"/>
              </a:defRPr>
            </a:pPr>
            <a:r>
              <a:t>MODULAR DETECTORS</a:t>
            </a:r>
          </a:p>
          <a:p>
            <a:pPr>
              <a:defRPr sz="800">
                <a:solidFill>
                  <a:srgbClr val="334155"/>
                </a:solidFill>
                <a:latin typeface="Arial"/>
              </a:defRPr>
            </a:pPr>
            <a:r>
              <a:t>Detector rules, statistics, and anomaly models can be independently updated and verified.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97679"/>
            <a:ext cx="4206240" cy="7498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343399"/>
            <a:ext cx="4023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E3C"/>
                </a:solidFill>
                <a:latin typeface="Arial"/>
              </a:defRPr>
            </a:pPr>
            <a:r>
              <a:t>HUMAN-IN-THE-LOOP</a:t>
            </a:r>
          </a:p>
          <a:p>
            <a:pPr>
              <a:defRPr sz="800">
                <a:solidFill>
                  <a:srgbClr val="334155"/>
                </a:solidFill>
                <a:latin typeface="Arial"/>
              </a:defRPr>
            </a:pPr>
            <a:r>
              <a:t>System prioritises and recommends review; human experts retain absolute assessment authority.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12080" y="1234440"/>
            <a:ext cx="6519672" cy="2971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0" y="1325880"/>
            <a:ext cx="6126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E3C"/>
                </a:solidFill>
                <a:latin typeface="Arial"/>
              </a:defRPr>
            </a:pPr>
            <a:r>
              <a:t>CHALLENGES &amp; SAT-SA MITIGATION STRATEGIES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394960" y="1645920"/>
          <a:ext cx="6153912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776472"/>
              </a:tblGrid>
              <a:tr h="4038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Potential Challenge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SAT-SA Mitigation Strategy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E3C"/>
                          </a:solidFill>
                          <a:latin typeface="Arial"/>
                        </a:defRPr>
                      </a:pPr>
                      <a:r>
                        <a:t>Incomplete / Missing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Automated data-quality gates &amp; schema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E3C"/>
                          </a:solidFill>
                          <a:latin typeface="Arial"/>
                        </a:defRPr>
                      </a:pPr>
                      <a:r>
                        <a:t>Different CSE data schemas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Canonical Pydantic schema maps heterogeneous formats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E3C"/>
                          </a:solidFill>
                          <a:latin typeface="Arial"/>
                        </a:defRPr>
                      </a:pPr>
                      <a:r>
                        <a:t>Small sample sizes per entity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Empirical Bayes Poisson-Gamma statistical shrinkage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E3C"/>
                          </a:solidFill>
                          <a:latin typeface="Arial"/>
                        </a:defRPr>
                      </a:pPr>
                      <a:r>
                        <a:t>False alarm fatigue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Context-aware peer benchmarking + human review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E3C"/>
                          </a:solidFill>
                          <a:latin typeface="Arial"/>
                        </a:defRPr>
                      </a:pPr>
                      <a:r>
                        <a:t>Adversarial KPI gaming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Multi-detector diversity + random audit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5212080" y="4297680"/>
            <a:ext cx="6519672" cy="1005840"/>
          </a:xfrm>
          <a:prstGeom prst="roundRect">
            <a:avLst/>
          </a:prstGeom>
          <a:solidFill>
            <a:srgbClr val="0A192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9240" y="4343400"/>
            <a:ext cx="62453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70C0"/>
                </a:solidFill>
                <a:latin typeface="Arial"/>
              </a:defRPr>
            </a:pPr>
            <a:r>
              <a:t>OFFLINE DEPLOYMENT WORKFLOW</a:t>
            </a:r>
          </a:p>
          <a:p>
            <a:pPr>
              <a:defRPr sz="850" b="1">
                <a:solidFill>
                  <a:srgbClr val="FFFFFF"/>
                </a:solidFill>
                <a:latin typeface="Arial"/>
              </a:defRPr>
            </a:pPr>
            <a:r>
              <a:t>Offline Dataset  ➔  SAT-SA Engine  ➔  Local DuckDB  ➔  Local Dashboard  ➔  Expert Review</a:t>
            </a:r>
          </a:p>
          <a:p>
            <a:pPr>
              <a:defRPr sz="800">
                <a:solidFill>
                  <a:srgbClr val="D97706"/>
                </a:solidFill>
                <a:latin typeface="Arial"/>
              </a:defRPr>
            </a:pPr>
            <a:r>
              <a:t>✓ Zero dependency on external cloud services or Internet connectivity.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394960"/>
            <a:ext cx="11274552" cy="77724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468112"/>
            <a:ext cx="11000232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F1E3C"/>
                </a:solidFill>
                <a:latin typeface="Arial"/>
              </a:defRPr>
            </a:pPr>
            <a:r>
              <a:t>Designed for air-gapped deployment and suitable for further validation in supervisory workflows.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0"/>
            <a:ext cx="2249424" cy="1060704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64592"/>
            <a:ext cx="2011680" cy="29260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SIH 2026 | PS 26157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E3C"/>
                </a:solidFill>
                <a:latin typeface="Times New Roman"/>
              </a:defRPr>
            </a:pPr>
            <a:r>
              <a:t>IMPACT AND BENEFITS</a:t>
            </a:r>
          </a:p>
          <a:p>
            <a:pPr>
              <a:defRPr sz="1050" b="1">
                <a:solidFill>
                  <a:srgbClr val="0070C0"/>
                </a:solidFill>
                <a:latin typeface="Arial"/>
              </a:defRPr>
            </a:pPr>
            <a:r>
              <a:t>Supervisory Transformation &amp; Strategic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47548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SAT-SA: Security Audit &amp; Supervisory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45152" y="6419088"/>
            <a:ext cx="4114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@SIH Idea submission- Template | NCIIPC / NTRO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19088"/>
            <a:ext cx="121615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Slide 5 of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34440"/>
            <a:ext cx="493776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25880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E3C"/>
                </a:solidFill>
                <a:latin typeface="Arial"/>
              </a:defRPr>
            </a:pPr>
            <a:r>
              <a:t>SUPERVISORY TRANSFORMATION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572000" cy="9601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91640"/>
            <a:ext cx="4389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C2626"/>
                </a:solidFill>
                <a:latin typeface="Arial"/>
              </a:defRPr>
            </a:pPr>
            <a:r>
              <a:t>TODAY: MANUAL DATA OVERLOAD</a:t>
            </a:r>
          </a:p>
          <a:p>
            <a:pPr>
              <a:defRPr sz="800">
                <a:solidFill>
                  <a:srgbClr val="334155"/>
                </a:solidFill>
                <a:latin typeface="Arial"/>
              </a:defRPr>
            </a:pPr>
            <a:r>
              <a:t>Large SOC Dataset  ➔  Manual Sampling  ➔  Limited Review Capacity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54480" y="2697480"/>
            <a:ext cx="2743200" cy="320040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272491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▼  SAT-SA ANALYTICS  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108960"/>
            <a:ext cx="4572000" cy="10515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54680"/>
            <a:ext cx="4389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70C0"/>
                </a:solidFill>
                <a:latin typeface="Arial"/>
              </a:defRPr>
            </a:pPr>
            <a:r>
              <a:t>WITH SAT-SA: EVIDENCE-DRIVEN REVIEW</a:t>
            </a:r>
          </a:p>
          <a:p>
            <a:pPr>
              <a:defRPr sz="800">
                <a:solidFill>
                  <a:srgbClr val="0F1E3C"/>
                </a:solidFill>
                <a:latin typeface="Arial"/>
              </a:defRPr>
            </a:pPr>
            <a:r>
              <a:t>Evidence-Based Priorities  ➔  Explainable Findings  ➔  Focused Expert Review</a:t>
            </a:r>
            <a:br/>
            <a:r>
              <a:t>Evidence-backed and traceable supervisory assessment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77840" y="1234440"/>
            <a:ext cx="6153912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1298448"/>
            <a:ext cx="57881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F1E3C"/>
                </a:solidFill>
                <a:latin typeface="Arial"/>
              </a:defRPr>
            </a:pPr>
            <a:r>
              <a:t>FOUR PILLARS OF SUPERVISORY VALUE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1572768"/>
            <a:ext cx="2788920" cy="7498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33872" y="1609344"/>
            <a:ext cx="264261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F1E3C"/>
                </a:solidFill>
                <a:latin typeface="Arial"/>
              </a:defRPr>
            </a:pPr>
            <a:r>
              <a:t>FOCUSED REVIEW</a:t>
            </a:r>
          </a:p>
          <a:p>
            <a:pPr>
              <a:defRPr sz="800">
                <a:solidFill>
                  <a:srgbClr val="334155"/>
                </a:solidFill>
                <a:latin typeface="Arial"/>
              </a:defRPr>
            </a:pPr>
            <a:r>
              <a:t>Helps experts identify where to investigate first.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0" y="1572768"/>
            <a:ext cx="2788920" cy="7498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59952" y="1609344"/>
            <a:ext cx="264261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F1E3C"/>
                </a:solidFill>
                <a:latin typeface="Arial"/>
              </a:defRPr>
            </a:pPr>
            <a:r>
              <a:t>EVIDENCE-DRIVEN</a:t>
            </a:r>
          </a:p>
          <a:p>
            <a:pPr>
              <a:defRPr sz="800">
                <a:solidFill>
                  <a:srgbClr val="334155"/>
                </a:solidFill>
                <a:latin typeface="Arial"/>
              </a:defRPr>
            </a:pPr>
            <a:r>
              <a:t>Links recommendations directly to underlying records.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2395728"/>
            <a:ext cx="2788920" cy="7498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33872" y="2432304"/>
            <a:ext cx="264261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F1E3C"/>
                </a:solidFill>
                <a:latin typeface="Arial"/>
              </a:defRPr>
            </a:pPr>
            <a:r>
              <a:t>BETTER VISIBILITY</a:t>
            </a:r>
          </a:p>
          <a:p>
            <a:pPr>
              <a:defRPr sz="800">
                <a:solidFill>
                  <a:srgbClr val="334155"/>
                </a:solidFill>
                <a:latin typeface="Arial"/>
              </a:defRPr>
            </a:pPr>
            <a:r>
              <a:t>Detects both unusual behaviour and missing evidence.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395728"/>
            <a:ext cx="2788920" cy="7498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59952" y="2432304"/>
            <a:ext cx="264261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F1E3C"/>
                </a:solidFill>
                <a:latin typeface="Arial"/>
              </a:defRPr>
            </a:pPr>
            <a:r>
              <a:t>EFFICIENT AUDIT</a:t>
            </a:r>
          </a:p>
          <a:p>
            <a:pPr>
              <a:defRPr sz="800">
                <a:solidFill>
                  <a:srgbClr val="334155"/>
                </a:solidFill>
                <a:latin typeface="Arial"/>
              </a:defRPr>
            </a:pPr>
            <a:r>
              <a:t>Reduces dependence on purely manual sampling.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77840" y="3429000"/>
            <a:ext cx="6153912" cy="1874519"/>
          </a:xfrm>
          <a:prstGeom prst="roundRect">
            <a:avLst/>
          </a:prstGeom>
          <a:solidFill>
            <a:srgbClr val="0A192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0" y="3493008"/>
            <a:ext cx="57881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70C0"/>
                </a:solidFill>
                <a:latin typeface="Arial"/>
              </a:defRPr>
            </a:pPr>
            <a:r>
              <a:t>TRADITIONAL MANUAL REVIEW VS SAT-SA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760720" y="3767328"/>
          <a:ext cx="5788152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907792"/>
              </a:tblGrid>
              <a:tr h="283464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Traditional Manual Review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SAT-SA Supervisory Analytics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Sample-driven manual review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D97706"/>
                          </a:solidFill>
                          <a:latin typeface="Arial"/>
                        </a:defRPr>
                      </a:pPr>
                      <a:r>
                        <a:t>Priority-driven analysis across the submitted dataset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Record-focused in isolation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D97706"/>
                          </a:solidFill>
                          <a:latin typeface="Arial"/>
                        </a:defRPr>
                      </a:pPr>
                      <a:r>
                        <a:t>Behaviour-focused across time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Hard to compare peer entities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D97706"/>
                          </a:solidFill>
                          <a:latin typeface="Arial"/>
                        </a:defRPr>
                      </a:pPr>
                      <a:r>
                        <a:t>Context-aware peer benchmarking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Inspects existing logs only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D97706"/>
                          </a:solidFill>
                          <a:latin typeface="Arial"/>
                        </a:defRPr>
                      </a:pPr>
                      <a:r>
                        <a:t>Inspects existing + missing evidence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457200" y="5394960"/>
            <a:ext cx="11274552" cy="77724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468112"/>
            <a:ext cx="11000232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F1E3C"/>
                </a:solidFill>
                <a:latin typeface="Arial"/>
              </a:defRPr>
            </a:pPr>
            <a:r>
              <a:t>"From Data Overload → Evidence-Driven Review"</a:t>
            </a:r>
            <a:br/>
            <a:r>
              <a:t>SAT-SA helps supervisory experts spend limited review time where evidence indicates the greatest need.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0"/>
            <a:ext cx="2249424" cy="1060704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64592"/>
            <a:ext cx="2011680" cy="29260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SIH 2026 | PS 26157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E3C"/>
                </a:solidFill>
                <a:latin typeface="Times New Roman"/>
              </a:defRPr>
            </a:pPr>
            <a:r>
              <a:t>RESEARCH  AND REFERENCES</a:t>
            </a:r>
          </a:p>
          <a:p>
            <a:pPr>
              <a:defRPr sz="1050" b="1">
                <a:solidFill>
                  <a:srgbClr val="0070C0"/>
                </a:solidFill>
                <a:latin typeface="Arial"/>
              </a:defRPr>
            </a:pPr>
            <a:r>
              <a:t>Regulatory Guidelines, Standards &amp; Scientific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47548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SAT-SA: Security Audit &amp; Supervisory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45152" y="6419088"/>
            <a:ext cx="4114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@SIH Idea submission- Template | NCIIPC / NTRO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19088"/>
            <a:ext cx="121615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Slide 6 of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34440"/>
            <a:ext cx="544068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5440680" cy="365760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280160"/>
            <a:ext cx="5166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Arial"/>
              </a:defRPr>
            </a:pPr>
            <a:r>
              <a:t>1. NCIIPC &amp; GOVERNMENT GUIDELINES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645920"/>
            <a:ext cx="5166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  <a:latin typeface="Arial"/>
              </a:rPr>
              <a:t>• NCIIPC Guidelines (Sec 70A, IT Act 2000) — </a:t>
            </a:r>
            <a:r>
              <a:rPr sz="800" b="1">
                <a:solidFill>
                  <a:srgbClr val="0070C0"/>
                </a:solidFill>
                <a:latin typeface="Arial"/>
                <a:hlinkClick r:id="rId4"/>
              </a:rPr>
              <a:t>Official NCIIPC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  <a:latin typeface="Arial"/>
              </a:rPr>
              <a:t>• CERT-In Cyber Security Directions — </a:t>
            </a:r>
            <a:r>
              <a:rPr sz="800" b="1">
                <a:solidFill>
                  <a:srgbClr val="0070C0"/>
                </a:solidFill>
                <a:latin typeface="Arial"/>
                <a:hlinkClick r:id="rId5"/>
              </a:rPr>
              <a:t>Official CERT-In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  <a:latin typeface="Arial"/>
              </a:rPr>
              <a:t>• NCIIPC / QCI Conformity Assessment Framework — </a:t>
            </a:r>
            <a:r>
              <a:rPr sz="800" b="1">
                <a:solidFill>
                  <a:srgbClr val="0070C0"/>
                </a:solidFill>
                <a:latin typeface="Arial"/>
                <a:hlinkClick r:id="rId4"/>
              </a:rPr>
              <a:t>Official NCIIPC Guidelines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234440"/>
            <a:ext cx="544068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91072" y="1234440"/>
            <a:ext cx="5440680" cy="365760"/>
          </a:xfrm>
          <a:prstGeom prst="roundRect">
            <a:avLst/>
          </a:prstGeom>
          <a:solidFill>
            <a:srgbClr val="0F1E3C"/>
          </a:solidFill>
          <a:ln>
            <a:solidFill>
              <a:srgbClr val="0F1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280160"/>
            <a:ext cx="5166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Arial"/>
              </a:defRPr>
            </a:pPr>
            <a:r>
              <a:t>2. SMART INDIA HACKATHON 2026 SPECIFICATION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1645920"/>
            <a:ext cx="5166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  <a:latin typeface="Arial"/>
              </a:rPr>
              <a:t>• Problem Statement 26157: Supervisory Analytics Tool — </a:t>
            </a:r>
            <a:r>
              <a:rPr sz="800" b="1">
                <a:solidFill>
                  <a:srgbClr val="0070C0"/>
                </a:solidFill>
                <a:latin typeface="Arial"/>
                <a:hlinkClick r:id="rId6"/>
              </a:rPr>
              <a:t>Official SIH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  <a:latin typeface="Arial"/>
              </a:rPr>
              <a:t>• Objective: Offline supervisory audit engine for prioritizing human investigation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  <a:latin typeface="Arial"/>
              </a:rPr>
              <a:t>• Scope: Analysis of historical alerts, case tickets, shift rosters, and asset telemetry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46120"/>
            <a:ext cx="544068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3246120"/>
            <a:ext cx="544068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291840"/>
            <a:ext cx="5166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Arial"/>
              </a:defRPr>
            </a:pPr>
            <a:r>
              <a:t>3. RESEARCH ON SOC ANALYTICS &amp;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657600"/>
            <a:ext cx="5166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  <a:latin typeface="Arial"/>
              </a:rPr>
              <a:t>• MITRE ATT&amp;CK Enterprise Framework &amp; Detection Taxonomy — </a:t>
            </a:r>
            <a:r>
              <a:rPr sz="800" b="1">
                <a:solidFill>
                  <a:srgbClr val="0070C0"/>
                </a:solidFill>
                <a:latin typeface="Arial"/>
                <a:hlinkClick r:id="rId7"/>
              </a:rPr>
              <a:t>Official MITRE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  <a:latin typeface="Arial"/>
              </a:rPr>
              <a:t>• SOC Alert Fatigue &amp; Supervisory Triage Optimization (IEEE/ACM Surveys)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  <a:latin typeface="Arial"/>
              </a:rPr>
              <a:t>• Empirical Analysis of SOC Workflows: Closure Velocity, Shift Drift &amp; Quality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3246120"/>
            <a:ext cx="544068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91072" y="3246120"/>
            <a:ext cx="5440680" cy="36576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3291840"/>
            <a:ext cx="5166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Arial"/>
              </a:defRPr>
            </a:pPr>
            <a:r>
              <a:t>4. STATISTICAL &amp; MACHINE LEARNING REFERENCES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3657600"/>
            <a:ext cx="5166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  <a:latin typeface="Arial"/>
              </a:rPr>
              <a:t>• Isolation Forest (Liu, Ting &amp; Zhou) — </a:t>
            </a:r>
            <a:r>
              <a:rPr sz="800" b="1">
                <a:solidFill>
                  <a:srgbClr val="0070C0"/>
                </a:solidFill>
                <a:latin typeface="Arial"/>
                <a:hlinkClick r:id="rId8"/>
              </a:rPr>
              <a:t>IEEE ICDM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  <a:latin typeface="Arial"/>
              </a:rPr>
              <a:t>• MinHash / LSH (Broder et al.) — </a:t>
            </a:r>
            <a:r>
              <a:rPr sz="800" b="1">
                <a:solidFill>
                  <a:srgbClr val="0070C0"/>
                </a:solidFill>
                <a:latin typeface="Arial"/>
                <a:hlinkClick r:id="rId9"/>
              </a:rPr>
              <a:t>IEEE FOCS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1E293B"/>
                </a:solidFill>
                <a:latin typeface="Arial"/>
              </a:rPr>
              <a:t>• Empirical Bayes Poisson-Gamma Shrinkage (Efron &amp; Morris) — </a:t>
            </a:r>
            <a:r>
              <a:rPr sz="800" b="1">
                <a:solidFill>
                  <a:srgbClr val="0070C0"/>
                </a:solidFill>
                <a:latin typeface="Arial"/>
                <a:hlinkClick r:id="rId10"/>
              </a:rPr>
              <a:t>JASA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394960"/>
            <a:ext cx="11274552" cy="77724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468112"/>
            <a:ext cx="11000232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F1E3C"/>
                </a:solidFill>
                <a:latin typeface="Arial"/>
              </a:defRPr>
            </a:pPr>
            <a:r>
              <a:t>All methodologies grounded in established supervisory standards, peer-reviewed statistical models, and official regulatory guidelines.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